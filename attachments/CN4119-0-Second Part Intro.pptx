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1" r:id="rId2"/>
    <p:sldId id="257" r:id="rId3"/>
    <p:sldId id="263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5766" autoAdjust="0"/>
  </p:normalViewPr>
  <p:slideViewPr>
    <p:cSldViewPr snapToGrid="0">
      <p:cViewPr varScale="1">
        <p:scale>
          <a:sx n="56" d="100"/>
          <a:sy n="56" d="100"/>
        </p:scale>
        <p:origin x="96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9F6FD7-1F15-463F-86FC-CD6C13D7FDE0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67817-2396-4366-82D2-9E2E5D27F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310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67817-2396-4366-82D2-9E2E5D27F7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573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4600E6-5959-43DE-A14E-5AAB575E2B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984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EF3C3-A98D-4D85-A5C9-BAA75377FFF4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VasudevanS/CN4119/Second Part Intro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9A7F3-0E25-4658-9853-D331B91B6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3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3B026-2099-40CD-ACA7-C04D122757FD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VasudevanS/CN4119/Second Part Intro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9A7F3-0E25-4658-9853-D331B91B6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334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42FF7-2E4D-4135-BA60-1A9E298FE643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VasudevanS/CN4119/Second Part Intro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9A7F3-0E25-4658-9853-D331B91B6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51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FCA85-BFF6-4921-BB20-68A8567DC6F4}" type="datetime1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VasudevanS/CN4119/Second Part Intro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9A7F3-0E25-4658-9853-D331B91B6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03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4BE02-8ED6-4E95-89CC-5619C473C0A1}" type="datetime1">
              <a:rPr lang="en-US" smtClean="0"/>
              <a:t>9/10/2024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VasudevanS/CN4119/Second Part Intro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9A7F3-0E25-4658-9853-D331B91B6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67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0F280-3963-4602-ACFB-C359ABDBF53E}" type="datetime1">
              <a:rPr lang="en-US" smtClean="0"/>
              <a:t>9/10/2024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VasudevanS/CN4119/Second Part Intro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9A7F3-0E25-4658-9853-D331B91B6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620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5DE81-128C-4022-9077-E13FCE3F41FB}" type="datetime1">
              <a:rPr lang="en-US" smtClean="0"/>
              <a:t>9/10/2024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VasudevanS/CN4119/Second Part Intro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9A7F3-0E25-4658-9853-D331B91B6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72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BC382-DDB9-4B4D-BC64-D39A62D1C20E}" type="datetime1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VasudevanS/CN4119/Second Part Intro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9A7F3-0E25-4658-9853-D331B91B6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178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D53-BC31-45CD-9B54-2CAA800C94C2}" type="datetime1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VasudevanS/CN4119/Second Part Intro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9A7F3-0E25-4658-9853-D331B91B6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953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5AC35-2AF7-4C06-A1C4-A33B4F9C156E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VasudevanS/CN4119/Second Part Intro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9A7F3-0E25-4658-9853-D331B91B6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856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6227D-4CC7-4494-BC4A-8B322D2E5D4C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VasudevanS/CN4119/Second Part Intro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9A7F3-0E25-4658-9853-D331B91B6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479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BD940C-000B-4C51-8E06-095381FA31BD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57772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VasudevanS/CN4119/Second Part Intro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2121" y="65681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F9A7F3-0E25-4658-9853-D331B91B6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78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hesura@nus.edu.s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05000" y="1752600"/>
            <a:ext cx="8382000" cy="189357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400" b="1" dirty="0" smtClean="0">
                <a:solidFill>
                  <a:srgbClr val="7030A0"/>
                </a:solidFill>
                <a:latin typeface="Eras Bold ITC" panose="020B0907030504020204" pitchFamily="34" charset="0"/>
                <a:cs typeface="Arial" pitchFamily="34" charset="0"/>
              </a:rPr>
              <a:t>Second Part</a:t>
            </a:r>
            <a:r>
              <a:rPr lang="en-US" sz="4400" b="1" dirty="0">
                <a:solidFill>
                  <a:srgbClr val="7030A0"/>
                </a:solidFill>
                <a:latin typeface="Eras Bold ITC" panose="020B0907030504020204" pitchFamily="34" charset="0"/>
                <a:cs typeface="Arial" pitchFamily="34" charset="0"/>
              </a:rPr>
              <a:t/>
            </a:r>
            <a:br>
              <a:rPr lang="en-US" sz="4400" b="1" dirty="0">
                <a:solidFill>
                  <a:srgbClr val="7030A0"/>
                </a:solidFill>
                <a:latin typeface="Eras Bold ITC" panose="020B0907030504020204" pitchFamily="34" charset="0"/>
                <a:cs typeface="Arial" pitchFamily="34" charset="0"/>
              </a:rPr>
            </a:br>
            <a:r>
              <a:rPr lang="en-US" sz="4400" b="1" dirty="0">
                <a:solidFill>
                  <a:srgbClr val="002060"/>
                </a:solidFill>
                <a:latin typeface="Eras Bold ITC" panose="020B0907030504020204" pitchFamily="34" charset="0"/>
                <a:cs typeface="Arial" pitchFamily="34" charset="0"/>
              </a:rPr>
              <a:t>Introduction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09800" y="4480560"/>
            <a:ext cx="7924800" cy="2097165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>
                <a:solidFill>
                  <a:srgbClr val="006600"/>
                </a:solidFill>
                <a:latin typeface="Berlin Sans FB" panose="020E0602020502020306" pitchFamily="34" charset="0"/>
                <a:cs typeface="Arial" pitchFamily="34" charset="0"/>
              </a:rPr>
              <a:t>Dr Suraj Vasudevan</a:t>
            </a:r>
          </a:p>
          <a:p>
            <a:pPr>
              <a:defRPr/>
            </a:pPr>
            <a:r>
              <a:rPr lang="en-US" dirty="0">
                <a:solidFill>
                  <a:srgbClr val="006600"/>
                </a:solidFill>
                <a:latin typeface="Berlin Sans FB" panose="020E0602020502020306" pitchFamily="34" charset="0"/>
                <a:cs typeface="Arial" pitchFamily="34" charset="0"/>
              </a:rPr>
              <a:t>E4 06-03</a:t>
            </a:r>
          </a:p>
          <a:p>
            <a:pPr>
              <a:defRPr/>
            </a:pPr>
            <a:r>
              <a:rPr lang="en-US" dirty="0">
                <a:solidFill>
                  <a:srgbClr val="006600"/>
                </a:solidFill>
                <a:latin typeface="Berlin Sans FB" panose="020E0602020502020306" pitchFamily="34" charset="0"/>
                <a:cs typeface="Arial" pitchFamily="34" charset="0"/>
              </a:rPr>
              <a:t>Email: </a:t>
            </a:r>
            <a:r>
              <a:rPr lang="en-US" i="1" u="sng" dirty="0">
                <a:solidFill>
                  <a:srgbClr val="0033CC"/>
                </a:solidFill>
                <a:latin typeface="Berlin Sans FB" panose="020E0602020502020306" pitchFamily="34" charset="0"/>
                <a:cs typeface="Arial" pitchFamily="34" charset="0"/>
                <a:hlinkClick r:id="rId3"/>
              </a:rPr>
              <a:t>chesura@nus.edu.sg</a:t>
            </a:r>
            <a:endParaRPr lang="en-US" i="1" u="sng" dirty="0">
              <a:solidFill>
                <a:srgbClr val="0033CC"/>
              </a:solidFill>
              <a:latin typeface="Berlin Sans FB" panose="020E0602020502020306" pitchFamily="34" charset="0"/>
              <a:cs typeface="Arial" pitchFamily="34" charset="0"/>
            </a:endParaRPr>
          </a:p>
          <a:p>
            <a:pPr>
              <a:defRPr/>
            </a:pPr>
            <a:r>
              <a:rPr lang="en-US" dirty="0">
                <a:solidFill>
                  <a:srgbClr val="006600"/>
                </a:solidFill>
                <a:latin typeface="Berlin Sans FB" panose="020E0602020502020306" pitchFamily="34" charset="0"/>
                <a:cs typeface="Arial" pitchFamily="34" charset="0"/>
              </a:rPr>
              <a:t>Microsoft Teams Chat Messages</a:t>
            </a:r>
          </a:p>
          <a:p>
            <a:pPr>
              <a:defRPr/>
            </a:pPr>
            <a:r>
              <a:rPr lang="en-US" dirty="0" smtClean="0">
                <a:solidFill>
                  <a:srgbClr val="006600"/>
                </a:solidFill>
                <a:latin typeface="Berlin Sans FB" panose="020E0602020502020306" pitchFamily="34" charset="0"/>
                <a:cs typeface="Arial" pitchFamily="34" charset="0"/>
              </a:rPr>
              <a:t>Zoom/F2F </a:t>
            </a:r>
            <a:r>
              <a:rPr lang="en-US" dirty="0">
                <a:solidFill>
                  <a:srgbClr val="006600"/>
                </a:solidFill>
                <a:latin typeface="Berlin Sans FB" panose="020E0602020502020306" pitchFamily="34" charset="0"/>
                <a:cs typeface="Arial" pitchFamily="34" charset="0"/>
              </a:rPr>
              <a:t>Consultation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752600" y="228600"/>
            <a:ext cx="8839200" cy="6858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300" kern="1200">
                <a:solidFill>
                  <a:srgbClr val="7C5D5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7C5D50"/>
                </a:solidFill>
                <a:latin typeface="Gill Sans M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7C5D50"/>
                </a:solidFill>
                <a:latin typeface="Gill Sans M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7C5D50"/>
                </a:solidFill>
                <a:latin typeface="Gill Sans M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7C5D50"/>
                </a:solidFill>
                <a:latin typeface="Gill Sans MT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7C5D50"/>
                </a:solidFill>
                <a:latin typeface="Gill Sans MT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7C5D50"/>
                </a:solidFill>
                <a:latin typeface="Gill Sans MT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7C5D50"/>
                </a:solidFill>
                <a:latin typeface="Gill Sans MT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7C5D50"/>
                </a:solidFill>
                <a:latin typeface="Gill Sans MT" pitchFamily="34" charset="0"/>
              </a:defRPr>
            </a:lvl9pPr>
            <a:extLst/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rgbClr val="006600"/>
                </a:solidFill>
                <a:latin typeface="Berlin Sans FB" panose="020E0602020502020306" pitchFamily="34" charset="0"/>
                <a:cs typeface="Arial" pitchFamily="34" charset="0"/>
              </a:rPr>
              <a:t>CN4119 Final Year Design Project</a:t>
            </a:r>
            <a:endParaRPr lang="en-US" sz="3600" dirty="0">
              <a:solidFill>
                <a:srgbClr val="006600"/>
              </a:solidFill>
              <a:latin typeface="Berlin Sans FB" panose="020E0602020502020306" pitchFamily="34" charset="0"/>
              <a:cs typeface="Arial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VasudevanS/CN4119/Second Part Intro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9A7F3-0E25-4658-9853-D331B91B651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592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533400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rgbClr val="006600"/>
                </a:solidFill>
                <a:latin typeface="Eras Bold ITC" panose="020B0907030504020204" pitchFamily="34" charset="0"/>
              </a:rPr>
              <a:t>PFD of Ethyl Benzene Process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15" b="34981"/>
          <a:stretch/>
        </p:blipFill>
        <p:spPr>
          <a:xfrm>
            <a:off x="1676400" y="751114"/>
            <a:ext cx="8839200" cy="4800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Oval 9"/>
          <p:cNvSpPr/>
          <p:nvPr/>
        </p:nvSpPr>
        <p:spPr>
          <a:xfrm>
            <a:off x="3962400" y="762000"/>
            <a:ext cx="1981200" cy="4800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694715" y="740229"/>
            <a:ext cx="1981200" cy="4800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7-Point Star 11"/>
          <p:cNvSpPr/>
          <p:nvPr/>
        </p:nvSpPr>
        <p:spPr>
          <a:xfrm>
            <a:off x="4191000" y="838200"/>
            <a:ext cx="685800" cy="609600"/>
          </a:xfrm>
          <a:prstGeom prst="star7">
            <a:avLst/>
          </a:prstGeom>
          <a:noFill/>
          <a:ln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7-Point Star 12"/>
          <p:cNvSpPr/>
          <p:nvPr/>
        </p:nvSpPr>
        <p:spPr>
          <a:xfrm>
            <a:off x="5600700" y="838200"/>
            <a:ext cx="685800" cy="609600"/>
          </a:xfrm>
          <a:prstGeom prst="star7">
            <a:avLst/>
          </a:prstGeom>
          <a:noFill/>
          <a:ln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7-Point Star 13"/>
          <p:cNvSpPr/>
          <p:nvPr/>
        </p:nvSpPr>
        <p:spPr>
          <a:xfrm>
            <a:off x="6694715" y="751114"/>
            <a:ext cx="685800" cy="609600"/>
          </a:xfrm>
          <a:prstGeom prst="star7">
            <a:avLst/>
          </a:prstGeom>
          <a:noFill/>
          <a:ln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7-Point Star 14"/>
          <p:cNvSpPr/>
          <p:nvPr/>
        </p:nvSpPr>
        <p:spPr>
          <a:xfrm>
            <a:off x="5083629" y="1752600"/>
            <a:ext cx="685800" cy="609600"/>
          </a:xfrm>
          <a:prstGeom prst="star7">
            <a:avLst/>
          </a:prstGeom>
          <a:noFill/>
          <a:ln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7-Point Star 15"/>
          <p:cNvSpPr/>
          <p:nvPr/>
        </p:nvSpPr>
        <p:spPr>
          <a:xfrm>
            <a:off x="5072743" y="3162300"/>
            <a:ext cx="685800" cy="609600"/>
          </a:xfrm>
          <a:prstGeom prst="star7">
            <a:avLst/>
          </a:prstGeom>
          <a:noFill/>
          <a:ln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7-Point Star 16"/>
          <p:cNvSpPr/>
          <p:nvPr/>
        </p:nvSpPr>
        <p:spPr>
          <a:xfrm>
            <a:off x="5029200" y="4495800"/>
            <a:ext cx="685800" cy="609600"/>
          </a:xfrm>
          <a:prstGeom prst="star7">
            <a:avLst/>
          </a:prstGeom>
          <a:noFill/>
          <a:ln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7-Point Star 17"/>
          <p:cNvSpPr/>
          <p:nvPr/>
        </p:nvSpPr>
        <p:spPr>
          <a:xfrm>
            <a:off x="7696201" y="1055914"/>
            <a:ext cx="685800" cy="609600"/>
          </a:xfrm>
          <a:prstGeom prst="star7">
            <a:avLst/>
          </a:prstGeom>
          <a:noFill/>
          <a:ln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7-Point Star 18"/>
          <p:cNvSpPr/>
          <p:nvPr/>
        </p:nvSpPr>
        <p:spPr>
          <a:xfrm>
            <a:off x="7239000" y="2607129"/>
            <a:ext cx="685800" cy="609600"/>
          </a:xfrm>
          <a:prstGeom prst="star7">
            <a:avLst/>
          </a:prstGeom>
          <a:noFill/>
          <a:ln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7-Point Star 19"/>
          <p:cNvSpPr/>
          <p:nvPr/>
        </p:nvSpPr>
        <p:spPr>
          <a:xfrm>
            <a:off x="8060872" y="2362200"/>
            <a:ext cx="685800" cy="609600"/>
          </a:xfrm>
          <a:prstGeom prst="star7">
            <a:avLst/>
          </a:prstGeom>
          <a:noFill/>
          <a:ln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7-Point Star 20"/>
          <p:cNvSpPr/>
          <p:nvPr/>
        </p:nvSpPr>
        <p:spPr>
          <a:xfrm>
            <a:off x="8403772" y="3962400"/>
            <a:ext cx="685800" cy="609600"/>
          </a:xfrm>
          <a:prstGeom prst="star7">
            <a:avLst/>
          </a:prstGeom>
          <a:noFill/>
          <a:ln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Horizontal Scroll 21"/>
          <p:cNvSpPr/>
          <p:nvPr/>
        </p:nvSpPr>
        <p:spPr>
          <a:xfrm>
            <a:off x="3505200" y="2057400"/>
            <a:ext cx="2895600" cy="2438400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  <a:latin typeface="Comic Sans MS" pitchFamily="66" charset="0"/>
              </a:rPr>
              <a:t>Reaction Section Design</a:t>
            </a:r>
          </a:p>
        </p:txBody>
      </p:sp>
      <p:sp>
        <p:nvSpPr>
          <p:cNvPr id="23" name="Horizontal Scroll 22"/>
          <p:cNvSpPr/>
          <p:nvPr/>
        </p:nvSpPr>
        <p:spPr>
          <a:xfrm>
            <a:off x="6477000" y="2057400"/>
            <a:ext cx="2895600" cy="2438400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  <a:latin typeface="Comic Sans MS" pitchFamily="66" charset="0"/>
              </a:rPr>
              <a:t>Separation Section Design</a:t>
            </a:r>
          </a:p>
        </p:txBody>
      </p:sp>
      <p:sp>
        <p:nvSpPr>
          <p:cNvPr id="24" name="Horizontal Scroll 23"/>
          <p:cNvSpPr/>
          <p:nvPr/>
        </p:nvSpPr>
        <p:spPr>
          <a:xfrm>
            <a:off x="7195458" y="3352800"/>
            <a:ext cx="2895600" cy="2438400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  <a:latin typeface="Comic Sans MS" pitchFamily="66" charset="0"/>
              </a:rPr>
              <a:t>Heat Exchanger Design and Heat Integration</a:t>
            </a:r>
          </a:p>
        </p:txBody>
      </p:sp>
      <p:sp>
        <p:nvSpPr>
          <p:cNvPr id="25" name="Horizontal Scroll 24"/>
          <p:cNvSpPr/>
          <p:nvPr/>
        </p:nvSpPr>
        <p:spPr>
          <a:xfrm>
            <a:off x="1676400" y="321129"/>
            <a:ext cx="2895600" cy="2438400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  <a:latin typeface="Comic Sans MS" pitchFamily="66" charset="0"/>
              </a:rPr>
              <a:t>Thermodynamic Model Selection</a:t>
            </a:r>
          </a:p>
        </p:txBody>
      </p:sp>
      <p:sp>
        <p:nvSpPr>
          <p:cNvPr id="26" name="Horizontal Scroll 25"/>
          <p:cNvSpPr/>
          <p:nvPr/>
        </p:nvSpPr>
        <p:spPr>
          <a:xfrm>
            <a:off x="1773085" y="1613807"/>
            <a:ext cx="2895600" cy="2438400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  <a:latin typeface="Comic Sans MS" pitchFamily="66" charset="0"/>
              </a:rPr>
              <a:t>Process Synthesis and Design</a:t>
            </a:r>
          </a:p>
        </p:txBody>
      </p:sp>
      <p:sp>
        <p:nvSpPr>
          <p:cNvPr id="27" name="Horizontal Scroll 26"/>
          <p:cNvSpPr/>
          <p:nvPr/>
        </p:nvSpPr>
        <p:spPr>
          <a:xfrm>
            <a:off x="2530929" y="2552700"/>
            <a:ext cx="2895600" cy="2438400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  <a:latin typeface="Comic Sans MS" pitchFamily="66" charset="0"/>
              </a:rPr>
              <a:t>Costing and Economics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63406" y="5831032"/>
            <a:ext cx="10103187" cy="8423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Berlin Sans FB" panose="020E0602020502020306" pitchFamily="34" charset="0"/>
              </a:rPr>
              <a:t>Knowledge from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Berlin Sans FB" panose="020E0602020502020306" pitchFamily="34" charset="0"/>
              </a:rPr>
              <a:t>Chemical Engineering </a:t>
            </a:r>
            <a:r>
              <a:rPr lang="en-US" b="1" i="1" dirty="0" smtClean="0">
                <a:solidFill>
                  <a:schemeClr val="accent5">
                    <a:lumMod val="75000"/>
                  </a:schemeClr>
                </a:solidFill>
                <a:latin typeface="Berlin Sans FB" panose="020E0602020502020306" pitchFamily="34" charset="0"/>
              </a:rPr>
              <a:t>Thermodynamics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latin typeface="Berlin Sans FB" panose="020E0602020502020306" pitchFamily="34" charset="0"/>
              </a:rPr>
              <a:t>, </a:t>
            </a:r>
            <a:r>
              <a:rPr lang="en-US" b="1" i="1" dirty="0" smtClean="0">
                <a:solidFill>
                  <a:schemeClr val="accent5">
                    <a:lumMod val="75000"/>
                  </a:schemeClr>
                </a:solidFill>
                <a:latin typeface="Berlin Sans FB" panose="020E0602020502020306" pitchFamily="34" charset="0"/>
              </a:rPr>
              <a:t>Reaction Engineering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latin typeface="Berlin Sans FB" panose="020E0602020502020306" pitchFamily="34" charset="0"/>
              </a:rPr>
              <a:t>, </a:t>
            </a:r>
            <a:r>
              <a:rPr lang="en-US" b="1" i="1" dirty="0" smtClean="0">
                <a:solidFill>
                  <a:schemeClr val="accent5">
                    <a:lumMod val="75000"/>
                  </a:schemeClr>
                </a:solidFill>
                <a:latin typeface="Berlin Sans FB" panose="020E0602020502020306" pitchFamily="34" charset="0"/>
              </a:rPr>
              <a:t>Mass Transfer and Separation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Berlin Sans FB" panose="020E0602020502020306" pitchFamily="34" charset="0"/>
              </a:rPr>
              <a:t>Processes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Berlin Sans FB" panose="020E0602020502020306" pitchFamily="34" charset="0"/>
              </a:rPr>
              <a:t>, etc.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VasudevanS/CN4119/Second Part Intro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9A7F3-0E25-4658-9853-D331B91B651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13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VasudevanS/CN4119/Second Part Intro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9A7F3-0E25-4658-9853-D331B91B6515}" type="slidenum">
              <a:rPr lang="en-US" smtClean="0"/>
              <a:t>3</a:t>
            </a:fld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1931670" y="1047750"/>
            <a:ext cx="8195310" cy="4953000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106362" lvl="1" indent="-342900" eaLnBrk="1" hangingPunct="1">
              <a:lnSpc>
                <a:spcPct val="150000"/>
              </a:lnSpc>
              <a:spcBef>
                <a:spcPct val="30000"/>
              </a:spcBef>
              <a:buClrTx/>
              <a:buFont typeface="Wingdings" pitchFamily="2" charset="2"/>
              <a:buChar char="§"/>
            </a:pPr>
            <a:r>
              <a:rPr lang="en-US" sz="2400" dirty="0">
                <a:latin typeface="Eras Medium ITC" panose="020B0602030504020804" pitchFamily="34" charset="0"/>
              </a:rPr>
              <a:t>What you have learnt</a:t>
            </a:r>
          </a:p>
          <a:p>
            <a:pPr marL="566928" lvl="1" indent="-283464" algn="just" eaLnBrk="1" hangingPunct="1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7030A0"/>
                </a:solidFill>
                <a:latin typeface="Eras Medium ITC" panose="020B0602030504020804" pitchFamily="34" charset="0"/>
              </a:rPr>
              <a:t>Develop </a:t>
            </a:r>
            <a:r>
              <a:rPr lang="en-US" sz="2000" dirty="0">
                <a:solidFill>
                  <a:srgbClr val="7030A0"/>
                </a:solidFill>
                <a:latin typeface="Eras Medium ITC" panose="020B0602030504020804" pitchFamily="34" charset="0"/>
              </a:rPr>
              <a:t>process flow diagrams (PFDs), selection and sequencing of equipment for common unit operations, </a:t>
            </a:r>
            <a:r>
              <a:rPr lang="en-US" sz="2000" dirty="0" smtClean="0">
                <a:solidFill>
                  <a:srgbClr val="7030A0"/>
                </a:solidFill>
                <a:latin typeface="Eras Medium ITC" panose="020B0602030504020804" pitchFamily="34" charset="0"/>
              </a:rPr>
              <a:t>reactor design, steps </a:t>
            </a:r>
            <a:r>
              <a:rPr lang="en-US" sz="2000" dirty="0">
                <a:solidFill>
                  <a:srgbClr val="7030A0"/>
                </a:solidFill>
                <a:latin typeface="Eras Medium ITC" panose="020B0602030504020804" pitchFamily="34" charset="0"/>
              </a:rPr>
              <a:t>and considerations in process </a:t>
            </a:r>
            <a:r>
              <a:rPr lang="en-US" sz="2000" dirty="0" smtClean="0">
                <a:solidFill>
                  <a:srgbClr val="7030A0"/>
                </a:solidFill>
                <a:latin typeface="Eras Medium ITC" panose="020B0602030504020804" pitchFamily="34" charset="0"/>
              </a:rPr>
              <a:t>design</a:t>
            </a:r>
          </a:p>
          <a:p>
            <a:pPr marL="106362" lvl="1" indent="-342900" eaLnBrk="1" hangingPunct="1">
              <a:lnSpc>
                <a:spcPct val="150000"/>
              </a:lnSpc>
              <a:spcBef>
                <a:spcPts val="18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smtClean="0">
                <a:latin typeface="Eras Medium ITC" panose="020B0602030504020804" pitchFamily="34" charset="0"/>
              </a:rPr>
              <a:t>What you will learn</a:t>
            </a:r>
          </a:p>
          <a:p>
            <a:pPr marL="569912" lvl="3" indent="-285750" algn="just" eaLnBrk="1" hangingPunct="1">
              <a:lnSpc>
                <a:spcPct val="150000"/>
              </a:lnSpc>
              <a:spcBef>
                <a:spcPts val="1200"/>
              </a:spcBef>
              <a:buClr>
                <a:srgbClr val="7030A0"/>
              </a:buClr>
              <a:buFont typeface="Wingdings" pitchFamily="2" charset="2"/>
              <a:buChar char="Ø"/>
            </a:pPr>
            <a:r>
              <a:rPr lang="en-US" sz="2000" b="1" dirty="0" smtClean="0">
                <a:solidFill>
                  <a:srgbClr val="7030A0"/>
                </a:solidFill>
                <a:latin typeface="Eras Medium ITC" panose="020B0602030504020804" pitchFamily="34" charset="0"/>
              </a:rPr>
              <a:t>Cost </a:t>
            </a:r>
            <a:r>
              <a:rPr lang="en-US" sz="2000" b="1" dirty="0">
                <a:solidFill>
                  <a:srgbClr val="7030A0"/>
                </a:solidFill>
                <a:latin typeface="Eras Medium ITC" panose="020B0602030504020804" pitchFamily="34" charset="0"/>
              </a:rPr>
              <a:t>estimation and economic </a:t>
            </a:r>
            <a:r>
              <a:rPr lang="en-US" sz="2000" b="1" dirty="0" smtClean="0">
                <a:solidFill>
                  <a:srgbClr val="7030A0"/>
                </a:solidFill>
                <a:latin typeface="Eras Medium ITC" panose="020B0602030504020804" pitchFamily="34" charset="0"/>
              </a:rPr>
              <a:t>analysis, basic process optimization, basic heat integration</a:t>
            </a:r>
          </a:p>
          <a:p>
            <a:pPr marL="569912" lvl="3" indent="-285750" algn="just">
              <a:lnSpc>
                <a:spcPct val="150000"/>
              </a:lnSpc>
              <a:spcBef>
                <a:spcPts val="1200"/>
              </a:spcBef>
              <a:buClr>
                <a:srgbClr val="7030A0"/>
              </a:buClr>
              <a:buFont typeface="Wingdings" pitchFamily="2" charset="2"/>
              <a:buChar char="Ø"/>
            </a:pPr>
            <a:r>
              <a:rPr lang="en-US" sz="2000" dirty="0" smtClean="0">
                <a:solidFill>
                  <a:srgbClr val="7030A0"/>
                </a:solidFill>
                <a:latin typeface="Eras Medium ITC" panose="020B0602030504020804" pitchFamily="34" charset="0"/>
              </a:rPr>
              <a:t>Industrial </a:t>
            </a:r>
            <a:r>
              <a:rPr lang="en-US" sz="2000" dirty="0">
                <a:solidFill>
                  <a:srgbClr val="7030A0"/>
                </a:solidFill>
                <a:latin typeface="Eras Medium ITC" panose="020B0602030504020804" pitchFamily="34" charset="0"/>
              </a:rPr>
              <a:t>hazards, control measures, green chemistry, </a:t>
            </a:r>
            <a:r>
              <a:rPr lang="en-US" sz="2000" dirty="0" smtClean="0">
                <a:solidFill>
                  <a:srgbClr val="7030A0"/>
                </a:solidFill>
                <a:latin typeface="Eras Medium ITC" panose="020B0602030504020804" pitchFamily="34" charset="0"/>
              </a:rPr>
              <a:t>life cycle analysis</a:t>
            </a:r>
            <a:endParaRPr lang="en-US" sz="2000" dirty="0">
              <a:latin typeface="Eras Medium ITC" panose="020B06020305040208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9851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006600"/>
                </a:solidFill>
                <a:latin typeface="Eras Bold ITC" panose="020B0907030504020204" pitchFamily="34" charset="0"/>
              </a:rPr>
              <a:t>Scope/Learning Outcomes</a:t>
            </a:r>
          </a:p>
        </p:txBody>
      </p:sp>
    </p:spTree>
    <p:extLst>
      <p:ext uri="{BB962C8B-B14F-4D97-AF65-F5344CB8AC3E}">
        <p14:creationId xmlns:p14="http://schemas.microsoft.com/office/powerpoint/2010/main" val="3621290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98516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006600"/>
                </a:solidFill>
                <a:latin typeface="Eras Bold ITC" panose="020B0907030504020204" pitchFamily="34" charset="0"/>
              </a:rPr>
              <a:t>Some of Your Go-To Resources </a:t>
            </a:r>
            <a:r>
              <a:rPr lang="en-US" sz="3200" dirty="0">
                <a:solidFill>
                  <a:srgbClr val="006600"/>
                </a:solidFill>
                <a:latin typeface="Eras Bold ITC" panose="020B0907030504020204" pitchFamily="34" charset="0"/>
              </a:rPr>
              <a:t>for </a:t>
            </a:r>
            <a:r>
              <a:rPr lang="en-US" sz="3200" dirty="0" smtClean="0">
                <a:solidFill>
                  <a:srgbClr val="006600"/>
                </a:solidFill>
                <a:latin typeface="Eras Bold ITC" panose="020B0907030504020204" pitchFamily="34" charset="0"/>
              </a:rPr>
              <a:t>FYDP</a:t>
            </a:r>
            <a:r>
              <a:rPr lang="en-US" sz="3200" dirty="0">
                <a:solidFill>
                  <a:srgbClr val="006600"/>
                </a:solidFill>
                <a:latin typeface="Eras Bold ITC" panose="020B0907030504020204" pitchFamily="34" charset="0"/>
                <a:sym typeface="Wingdings" panose="05000000000000000000" pitchFamily="2" charset="2"/>
              </a:rPr>
              <a:t></a:t>
            </a:r>
            <a:r>
              <a:rPr lang="en-US" sz="3200" dirty="0">
                <a:solidFill>
                  <a:srgbClr val="006600"/>
                </a:solidFill>
                <a:latin typeface="Eras Bold ITC" panose="020B0907030504020204" pitchFamily="34" charset="0"/>
              </a:rPr>
              <a:t>!</a:t>
            </a:r>
            <a:endParaRPr lang="en-US" sz="3200" dirty="0">
              <a:solidFill>
                <a:srgbClr val="FF0000"/>
              </a:solidFill>
              <a:latin typeface="Eras Bold ITC" panose="020B0907030504020204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76" y="707846"/>
            <a:ext cx="2801839" cy="321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5605" y="3358401"/>
            <a:ext cx="2737428" cy="321932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6671" y="3348775"/>
            <a:ext cx="2801839" cy="32193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9714" y="707846"/>
            <a:ext cx="2645372" cy="3219324"/>
          </a:xfrm>
          <a:prstGeom prst="rect">
            <a:avLst/>
          </a:prstGeom>
        </p:spPr>
      </p:pic>
      <p:sp>
        <p:nvSpPr>
          <p:cNvPr id="10" name="Line Callout 1 9"/>
          <p:cNvSpPr/>
          <p:nvPr/>
        </p:nvSpPr>
        <p:spPr>
          <a:xfrm>
            <a:off x="626443" y="4612413"/>
            <a:ext cx="2233748" cy="945425"/>
          </a:xfrm>
          <a:prstGeom prst="borderCallout1">
            <a:avLst>
              <a:gd name="adj1" fmla="val -7696"/>
              <a:gd name="adj2" fmla="val 53655"/>
              <a:gd name="adj3" fmla="val -78055"/>
              <a:gd name="adj4" fmla="val 44982"/>
            </a:avLst>
          </a:prstGeom>
          <a:solidFill>
            <a:srgbClr val="FFCC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2060"/>
                </a:solidFill>
              </a:rPr>
              <a:t>Chapter 11: Technical Heuristics</a:t>
            </a:r>
          </a:p>
        </p:txBody>
      </p:sp>
      <p:sp>
        <p:nvSpPr>
          <p:cNvPr id="11" name="Line Callout 1 10"/>
          <p:cNvSpPr/>
          <p:nvPr/>
        </p:nvSpPr>
        <p:spPr>
          <a:xfrm>
            <a:off x="3587445" y="1784200"/>
            <a:ext cx="2233748" cy="945425"/>
          </a:xfrm>
          <a:prstGeom prst="borderCallout1">
            <a:avLst>
              <a:gd name="adj1" fmla="val 105646"/>
              <a:gd name="adj2" fmla="val 35746"/>
              <a:gd name="adj3" fmla="val 177342"/>
              <a:gd name="adj4" fmla="val 50739"/>
            </a:avLst>
          </a:prstGeom>
          <a:solidFill>
            <a:srgbClr val="FFCC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2060"/>
                </a:solidFill>
              </a:rPr>
              <a:t>Chapter 6: Process Design Heuristics</a:t>
            </a:r>
          </a:p>
        </p:txBody>
      </p:sp>
      <p:sp>
        <p:nvSpPr>
          <p:cNvPr id="12" name="Line Callout 1 11"/>
          <p:cNvSpPr/>
          <p:nvPr/>
        </p:nvSpPr>
        <p:spPr>
          <a:xfrm>
            <a:off x="9030716" y="1774575"/>
            <a:ext cx="2233748" cy="945425"/>
          </a:xfrm>
          <a:prstGeom prst="borderCallout1">
            <a:avLst>
              <a:gd name="adj1" fmla="val 105646"/>
              <a:gd name="adj2" fmla="val 35746"/>
              <a:gd name="adj3" fmla="val 177342"/>
              <a:gd name="adj4" fmla="val 50739"/>
            </a:avLst>
          </a:prstGeom>
          <a:solidFill>
            <a:srgbClr val="FFCC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2060"/>
                </a:solidFill>
              </a:rPr>
              <a:t>One more good text book!</a:t>
            </a:r>
          </a:p>
        </p:txBody>
      </p:sp>
      <p:sp>
        <p:nvSpPr>
          <p:cNvPr id="14" name="Line Callout 1 13"/>
          <p:cNvSpPr/>
          <p:nvPr/>
        </p:nvSpPr>
        <p:spPr>
          <a:xfrm>
            <a:off x="6275526" y="4612413"/>
            <a:ext cx="2233748" cy="945425"/>
          </a:xfrm>
          <a:prstGeom prst="borderCallout1">
            <a:avLst>
              <a:gd name="adj1" fmla="val -7696"/>
              <a:gd name="adj2" fmla="val 53655"/>
              <a:gd name="adj3" fmla="val -78055"/>
              <a:gd name="adj4" fmla="val 44982"/>
            </a:avLst>
          </a:prstGeom>
          <a:solidFill>
            <a:srgbClr val="FFCC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2060"/>
                </a:solidFill>
              </a:rPr>
              <a:t>Your main reference for this course!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VasudevanS/CN4119/Second Part Intro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9A7F3-0E25-4658-9853-D331B91B651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461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2090</TotalTime>
  <Words>179</Words>
  <Application>Microsoft Office PowerPoint</Application>
  <PresentationFormat>Widescreen</PresentationFormat>
  <Paragraphs>36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Arial</vt:lpstr>
      <vt:lpstr>Berlin Sans FB</vt:lpstr>
      <vt:lpstr>Calibri</vt:lpstr>
      <vt:lpstr>Calibri Light</vt:lpstr>
      <vt:lpstr>Comic Sans MS</vt:lpstr>
      <vt:lpstr>Eras Bold ITC</vt:lpstr>
      <vt:lpstr>Eras Medium ITC</vt:lpstr>
      <vt:lpstr>Wingdings</vt:lpstr>
      <vt:lpstr>Office Theme</vt:lpstr>
      <vt:lpstr>Second Part Introduction</vt:lpstr>
      <vt:lpstr>PFD of Ethyl Benzene Process</vt:lpstr>
      <vt:lpstr>Scope/Learning Outcomes</vt:lpstr>
      <vt:lpstr>Some of Your Go-To Resources for FYDP!</vt:lpstr>
    </vt:vector>
  </TitlesOfParts>
  <Company>National University of Singapore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PFD of Ethyl Benzene Process</dc:title>
  <dc:creator>Suraj Vasudevan</dc:creator>
  <cp:lastModifiedBy>Suraj Vasudevan</cp:lastModifiedBy>
  <cp:revision>101</cp:revision>
  <dcterms:created xsi:type="dcterms:W3CDTF">2017-10-24T04:57:20Z</dcterms:created>
  <dcterms:modified xsi:type="dcterms:W3CDTF">2024-09-10T15:09:22Z</dcterms:modified>
</cp:coreProperties>
</file>